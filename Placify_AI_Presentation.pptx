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6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006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0" y="2743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2800" b="1">
                <a:solidFill>
                  <a:srgbClr val="0066B3"/>
                </a:solidFill>
                <a:latin typeface="Calibri"/>
              </a:defRPr>
            </a:pPr>
            <a:r>
              <a:t>UPES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6858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000" b="1">
                <a:solidFill>
                  <a:srgbClr val="787878"/>
                </a:solidFill>
                <a:latin typeface="Calibri"/>
              </a:defRPr>
            </a:pPr>
            <a:r>
              <a:t>UNIVERSITY OF TOMORROW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4200" b="0">
                <a:solidFill>
                  <a:srgbClr val="1E1E1E"/>
                </a:solidFill>
                <a:latin typeface="Georgia"/>
              </a:defRPr>
            </a:pPr>
            <a:r>
              <a:t>Major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7744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400" b="1">
                <a:solidFill>
                  <a:srgbClr val="000000"/>
                </a:solidFill>
                <a:latin typeface="Calibri"/>
              </a:defRPr>
            </a:pPr>
            <a:r>
              <a:t>Title: College Placement Readiness and Skill Gap Analysis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3200400"/>
            <a:ext cx="9418320" cy="13716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8404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600" b="1">
                <a:solidFill>
                  <a:srgbClr val="1E1E1E"/>
                </a:solidFill>
                <a:latin typeface="Calibri"/>
              </a:defRPr>
            </a:pPr>
            <a:r>
              <a:t>Presented by: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3840480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1E1E1E"/>
                </a:solidFill>
                <a:latin typeface="Calibri"/>
              </a:defRPr>
            </a:pPr>
            <a:r>
              <a:t>Jatin Kumar (590014456)</a:t>
            </a:r>
          </a:p>
          <a:p>
            <a:pPr>
              <a:spcAft>
                <a:spcPts val="400"/>
              </a:spcAft>
              <a:defRPr sz="1600" b="1">
                <a:solidFill>
                  <a:srgbClr val="1E1E1E"/>
                </a:solidFill>
                <a:latin typeface="Calibri"/>
              </a:defRPr>
            </a:pPr>
            <a:r>
              <a:t>Trilok Singh (590016490)</a:t>
            </a:r>
          </a:p>
          <a:p>
            <a:pPr>
              <a:spcAft>
                <a:spcPts val="400"/>
              </a:spcAft>
              <a:defRPr sz="1600" b="1">
                <a:solidFill>
                  <a:srgbClr val="1E1E1E"/>
                </a:solidFill>
                <a:latin typeface="Calibri"/>
              </a:defRPr>
            </a:pPr>
            <a:r>
              <a:t>Akshar Goel (590013667)</a:t>
            </a:r>
          </a:p>
          <a:p>
            <a:pPr>
              <a:spcAft>
                <a:spcPts val="400"/>
              </a:spcAft>
              <a:defRPr sz="1600" b="1">
                <a:solidFill>
                  <a:srgbClr val="1E1E1E"/>
                </a:solidFill>
                <a:latin typeface="Calibri"/>
              </a:defRPr>
            </a:pPr>
            <a:r>
              <a:t>Bhavya Behl (590016466)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38404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600" b="1">
                <a:solidFill>
                  <a:srgbClr val="1E1E1E"/>
                </a:solidFill>
                <a:latin typeface="Calibri"/>
              </a:defRPr>
            </a:pPr>
            <a:r>
              <a:t>Industry Mentor: Miss Tanvi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41605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600" b="1">
                <a:solidFill>
                  <a:srgbClr val="1E1E1E"/>
                </a:solidFill>
                <a:latin typeface="Calibri"/>
              </a:defRPr>
            </a:pPr>
            <a:r>
              <a:t>Madan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49377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600" b="1">
                <a:solidFill>
                  <a:srgbClr val="1E1E1E"/>
                </a:solidFill>
                <a:latin typeface="Calibri"/>
              </a:defRPr>
            </a:pPr>
            <a:r>
              <a:t>UPES Mentor: Dr Praveen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4F46E5"/>
                </a:solidFill>
                <a:latin typeface="Calibri"/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Why Does the Industry-Academia Gap Persist?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C8CDD7"/>
                </a:solidFill>
                <a:latin typeface="Calibri"/>
              </a:defRPr>
            </a:pPr>
            <a:r>
              <a:t>▸  70%+ engineering graduates are deemed unemployable due to skill mismatch (NASSCOM, 2024).</a:t>
            </a:r>
          </a:p>
          <a:p>
            <a:pPr>
              <a:spcAft>
                <a:spcPts val="600"/>
              </a:spcAft>
              <a:defRPr sz="1700">
                <a:solidFill>
                  <a:srgbClr val="C8CDD7"/>
                </a:solidFill>
                <a:latin typeface="Calibri"/>
              </a:defRPr>
            </a:pPr>
            <a:r>
              <a:t>▸  Students lack awareness of which specific skills they are missing for target roles.</a:t>
            </a:r>
          </a:p>
          <a:p>
            <a:pPr>
              <a:spcAft>
                <a:spcPts val="600"/>
              </a:spcAft>
              <a:defRPr sz="1700">
                <a:solidFill>
                  <a:srgbClr val="C8CDD7"/>
                </a:solidFill>
                <a:latin typeface="Calibri"/>
              </a:defRPr>
            </a:pPr>
            <a:r>
              <a:t>▸  Colleges have no real-time, data-driven tracking of individual student readiness.</a:t>
            </a:r>
          </a:p>
          <a:p>
            <a:pPr>
              <a:spcAft>
                <a:spcPts val="600"/>
              </a:spcAft>
              <a:defRPr sz="1700">
                <a:solidFill>
                  <a:srgbClr val="C8CDD7"/>
                </a:solidFill>
                <a:latin typeface="Calibri"/>
              </a:defRPr>
            </a:pPr>
            <a:r>
              <a:t>▸  Resume claims are often unverified — no objective measurement of proficiency.</a:t>
            </a:r>
          </a:p>
          <a:p>
            <a:pPr>
              <a:spcAft>
                <a:spcPts val="600"/>
              </a:spcAft>
              <a:defRPr sz="1700">
                <a:solidFill>
                  <a:srgbClr val="C8CDD7"/>
                </a:solidFill>
                <a:latin typeface="Calibri"/>
              </a:defRPr>
            </a:pPr>
            <a:r>
              <a:t>▸  Mock assessments are generic; they don't adapt to the student's profile or target industry.</a:t>
            </a:r>
          </a:p>
          <a:p>
            <a:pPr>
              <a:spcAft>
                <a:spcPts val="600"/>
              </a:spcAft>
              <a:defRPr sz="1700">
                <a:solidFill>
                  <a:srgbClr val="C8CDD7"/>
                </a:solidFill>
                <a:latin typeface="Calibri"/>
              </a:defRPr>
            </a:pPr>
            <a:r>
              <a:t>▸  No integration between skill assessment, gap identification, and personalized upskilling paths.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5303520"/>
            <a:ext cx="10515600" cy="914400"/>
          </a:xfrm>
          <a:prstGeom prst="roundRect">
            <a:avLst/>
          </a:prstGeom>
          <a:solidFill>
            <a:srgbClr val="1E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534924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500" b="0">
                <a:solidFill>
                  <a:srgbClr val="64748B"/>
                </a:solidFill>
                <a:latin typeface="Calibri"/>
              </a:defRPr>
            </a:pPr>
            <a:r>
              <a:t>"The challenge is not a lack of talent, but a lack of alignment between education outcomes and industry expectations."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4F46E5"/>
                </a:solidFill>
                <a:latin typeface="Calibri"/>
              </a:defRPr>
            </a:pPr>
            <a:r>
              <a:t>OUR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000" b="1">
                <a:solidFill>
                  <a:srgbClr val="FFFFFF"/>
                </a:solidFill>
                <a:latin typeface="Calibri"/>
              </a:defRPr>
            </a:pPr>
            <a:r>
              <a:t>Placify AI — End-to-End Placement Readiness Platform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474720" cy="1920240"/>
          </a:xfrm>
          <a:prstGeom prst="roundRect">
            <a:avLst/>
          </a:prstGeom>
          <a:solidFill>
            <a:srgbClr val="1E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0116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4F46E5"/>
                </a:solidFill>
                <a:latin typeface="Calibri"/>
              </a:defRPr>
            </a:pPr>
            <a:r>
              <a:t>Resume Analyzer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46888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C8CDD7"/>
                </a:solidFill>
                <a:latin typeface="Calibri"/>
              </a:defRPr>
            </a:pPr>
            <a:r>
              <a:t>Upload PDF/DOCX → regex + Mistral-7B LLM skill extraction → verification quizzes.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59" y="1828800"/>
            <a:ext cx="3474720" cy="1920240"/>
          </a:xfrm>
          <a:prstGeom prst="roundRect">
            <a:avLst/>
          </a:prstGeom>
          <a:solidFill>
            <a:srgbClr val="1E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09159" y="20116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4F46E5"/>
                </a:solidFill>
                <a:latin typeface="Calibri"/>
              </a:defRPr>
            </a:pPr>
            <a:r>
              <a:t>Mock Test Engine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59" y="246888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C8CDD7"/>
                </a:solidFill>
                <a:latin typeface="Calibri"/>
              </a:defRPr>
            </a:pPr>
            <a:r>
              <a:t>101-question adaptive test (Quant, English, Reasoning, CS, DSA) — resume-tuned &amp; randomized.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1828800"/>
            <a:ext cx="3474720" cy="1920240"/>
          </a:xfrm>
          <a:prstGeom prst="roundRect">
            <a:avLst/>
          </a:prstGeom>
          <a:solidFill>
            <a:srgbClr val="1E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58200" y="20116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4F46E5"/>
                </a:solidFill>
                <a:latin typeface="Calibri"/>
              </a:defRPr>
            </a:pPr>
            <a:r>
              <a:t>Gap Analysis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58200" y="246888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C8CDD7"/>
                </a:solidFill>
                <a:latin typeface="Calibri"/>
              </a:defRPr>
            </a:pPr>
            <a:r>
              <a:t>Jaccard similarity + RandomForest model → readiness score &amp; missing skill reports.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114800"/>
            <a:ext cx="3474720" cy="1920240"/>
          </a:xfrm>
          <a:prstGeom prst="roundRect">
            <a:avLst/>
          </a:prstGeom>
          <a:solidFill>
            <a:srgbClr val="1E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2976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4F46E5"/>
                </a:solidFill>
                <a:latin typeface="Calibri"/>
              </a:defRPr>
            </a:pPr>
            <a:r>
              <a:t>DSA Coding Lab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475488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C8CDD7"/>
                </a:solidFill>
                <a:latin typeface="Calibri"/>
              </a:defRPr>
            </a:pPr>
            <a:r>
              <a:t>In-browser code editor with Piston API compilation (Python/Java/C++/C) &amp; LeetCode integration.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80559" y="4114800"/>
            <a:ext cx="3474720" cy="1920240"/>
          </a:xfrm>
          <a:prstGeom prst="roundRect">
            <a:avLst/>
          </a:prstGeom>
          <a:solidFill>
            <a:srgbClr val="1E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09159" y="42976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4F46E5"/>
                </a:solidFill>
                <a:latin typeface="Calibri"/>
              </a:defRPr>
            </a:pPr>
            <a:r>
              <a:t>Admin Panel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9159" y="475488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C8CDD7"/>
                </a:solidFill>
                <a:latin typeface="Calibri"/>
              </a:defRPr>
            </a:pPr>
            <a:r>
              <a:t>Manage students, track at-risk learners, view institution-wide skill gap analytics.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0" y="4114800"/>
            <a:ext cx="3474720" cy="1920240"/>
          </a:xfrm>
          <a:prstGeom prst="roundRect">
            <a:avLst/>
          </a:prstGeom>
          <a:solidFill>
            <a:srgbClr val="1E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58200" y="42976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4F46E5"/>
                </a:solidFill>
                <a:latin typeface="Calibri"/>
              </a:defRPr>
            </a:pPr>
            <a:r>
              <a:t>Adzuna Live Jobs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475488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C8CDD7"/>
                </a:solidFill>
                <a:latin typeface="Calibri"/>
              </a:defRPr>
            </a:pPr>
            <a:r>
              <a:t>Real-time job market data integration to align skill requirements with live postings.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4F46E5"/>
                </a:solidFill>
                <a:latin typeface="Calibri"/>
              </a:defRPr>
            </a:pPr>
            <a: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System Architecture &amp; Tech Stack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200400" cy="4389120"/>
          </a:xfrm>
          <a:prstGeom prst="roundRect">
            <a:avLst/>
          </a:prstGeom>
          <a:solidFill>
            <a:srgbClr val="1E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0B981"/>
                </a:solidFill>
                <a:latin typeface="Calibri"/>
              </a:defRPr>
            </a:pPr>
            <a:r>
              <a:t>FRONTEND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77440"/>
            <a:ext cx="2743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C8CDD7"/>
                </a:solidFill>
                <a:latin typeface="Calibri"/>
              </a:defRPr>
            </a:pPr>
            <a:r>
              <a:t>●  React.js (SPA)</a:t>
            </a:r>
          </a:p>
          <a:p>
            <a:pPr>
              <a:spcAft>
                <a:spcPts val="600"/>
              </a:spcAft>
              <a:defRPr sz="1400">
                <a:solidFill>
                  <a:srgbClr val="C8CDD7"/>
                </a:solidFill>
                <a:latin typeface="Calibri"/>
              </a:defRPr>
            </a:pPr>
            <a:r>
              <a:t>●  Recharts (Data Viz)</a:t>
            </a:r>
          </a:p>
          <a:p>
            <a:pPr>
              <a:spcAft>
                <a:spcPts val="600"/>
              </a:spcAft>
              <a:defRPr sz="1400">
                <a:solidFill>
                  <a:srgbClr val="C8CDD7"/>
                </a:solidFill>
                <a:latin typeface="Calibri"/>
              </a:defRPr>
            </a:pPr>
            <a:r>
              <a:t>●  Lucide Icons</a:t>
            </a:r>
          </a:p>
          <a:p>
            <a:pPr>
              <a:spcAft>
                <a:spcPts val="600"/>
              </a:spcAft>
              <a:defRPr sz="1400">
                <a:solidFill>
                  <a:srgbClr val="C8CDD7"/>
                </a:solidFill>
                <a:latin typeface="Calibri"/>
              </a:defRPr>
            </a:pPr>
            <a:r>
              <a:t>●  PDF.js + Mammoth.js</a:t>
            </a:r>
          </a:p>
          <a:p>
            <a:pPr>
              <a:spcAft>
                <a:spcPts val="600"/>
              </a:spcAft>
              <a:defRPr sz="1400">
                <a:solidFill>
                  <a:srgbClr val="C8CDD7"/>
                </a:solidFill>
                <a:latin typeface="Calibri"/>
              </a:defRPr>
            </a:pPr>
            <a:r>
              <a:t>●  Monaco-style Code Editor</a:t>
            </a:r>
          </a:p>
          <a:p>
            <a:pPr>
              <a:spcAft>
                <a:spcPts val="600"/>
              </a:spcAft>
              <a:defRPr sz="1400">
                <a:solidFill>
                  <a:srgbClr val="C8CDD7"/>
                </a:solidFill>
                <a:latin typeface="Calibri"/>
              </a:defRPr>
            </a:pPr>
            <a:r>
              <a:t>●  Tailwind CSS Styling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828800"/>
            <a:ext cx="3200400" cy="4389120"/>
          </a:xfrm>
          <a:prstGeom prst="roundRect">
            <a:avLst/>
          </a:prstGeom>
          <a:solidFill>
            <a:srgbClr val="1E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920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8B5CF6"/>
                </a:solidFill>
                <a:latin typeface="Calibri"/>
              </a:defRPr>
            </a:pPr>
            <a:r>
              <a:t>BACKEND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377440"/>
            <a:ext cx="2743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C8CDD7"/>
                </a:solidFill>
                <a:latin typeface="Calibri"/>
              </a:defRPr>
            </a:pPr>
            <a:r>
              <a:t>●  FastAPI (Python)</a:t>
            </a:r>
          </a:p>
          <a:p>
            <a:pPr>
              <a:spcAft>
                <a:spcPts val="600"/>
              </a:spcAft>
              <a:defRPr sz="1400">
                <a:solidFill>
                  <a:srgbClr val="C8CDD7"/>
                </a:solidFill>
                <a:latin typeface="Calibri"/>
              </a:defRPr>
            </a:pPr>
            <a:r>
              <a:t>●  Scikit-learn (RandomForest)</a:t>
            </a:r>
          </a:p>
          <a:p>
            <a:pPr>
              <a:spcAft>
                <a:spcPts val="600"/>
              </a:spcAft>
              <a:defRPr sz="1400">
                <a:solidFill>
                  <a:srgbClr val="C8CDD7"/>
                </a:solidFill>
                <a:latin typeface="Calibri"/>
              </a:defRPr>
            </a:pPr>
            <a:r>
              <a:t>●  Skill Analyzer (Jaccard)</a:t>
            </a:r>
          </a:p>
          <a:p>
            <a:pPr>
              <a:spcAft>
                <a:spcPts val="600"/>
              </a:spcAft>
              <a:defRPr sz="1400">
                <a:solidFill>
                  <a:srgbClr val="C8CDD7"/>
                </a:solidFill>
                <a:latin typeface="Calibri"/>
              </a:defRPr>
            </a:pPr>
            <a:r>
              <a:t>●  Resume Parser (170+ regex)</a:t>
            </a:r>
          </a:p>
          <a:p>
            <a:pPr>
              <a:spcAft>
                <a:spcPts val="600"/>
              </a:spcAft>
              <a:defRPr sz="1400">
                <a:solidFill>
                  <a:srgbClr val="C8CDD7"/>
                </a:solidFill>
                <a:latin typeface="Calibri"/>
              </a:defRPr>
            </a:pPr>
            <a:r>
              <a:t>●  Code Compiler Endpoint</a:t>
            </a:r>
          </a:p>
          <a:p>
            <a:pPr>
              <a:spcAft>
                <a:spcPts val="600"/>
              </a:spcAft>
              <a:defRPr sz="1400">
                <a:solidFill>
                  <a:srgbClr val="C8CDD7"/>
                </a:solidFill>
                <a:latin typeface="Calibri"/>
              </a:defRPr>
            </a:pPr>
            <a:r>
              <a:t>●  Student Data (JSON/CSV)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828800"/>
            <a:ext cx="3474720" cy="4389120"/>
          </a:xfrm>
          <a:prstGeom prst="roundRect">
            <a:avLst/>
          </a:prstGeom>
          <a:solidFill>
            <a:srgbClr val="1E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9202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F59E0B"/>
                </a:solidFill>
                <a:latin typeface="Calibri"/>
              </a:defRPr>
            </a:pPr>
            <a:r>
              <a:t>EXTERNAL APIs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377440"/>
            <a:ext cx="3108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C8CDD7"/>
                </a:solidFill>
                <a:latin typeface="Calibri"/>
              </a:defRPr>
            </a:pPr>
            <a:r>
              <a:t>●  Mistral 7B (HuggingFace)</a:t>
            </a:r>
          </a:p>
          <a:p>
            <a:pPr>
              <a:spcAft>
                <a:spcPts val="600"/>
              </a:spcAft>
              <a:defRPr sz="1400">
                <a:solidFill>
                  <a:srgbClr val="C8CDD7"/>
                </a:solidFill>
                <a:latin typeface="Calibri"/>
              </a:defRPr>
            </a:pPr>
            <a:r>
              <a:t>●  Piston API (Code Exec)</a:t>
            </a:r>
          </a:p>
          <a:p>
            <a:pPr>
              <a:spcAft>
                <a:spcPts val="600"/>
              </a:spcAft>
              <a:defRPr sz="1400">
                <a:solidFill>
                  <a:srgbClr val="C8CDD7"/>
                </a:solidFill>
                <a:latin typeface="Calibri"/>
              </a:defRPr>
            </a:pPr>
            <a:r>
              <a:t>●  LeetCode GraphQL API</a:t>
            </a:r>
          </a:p>
          <a:p>
            <a:pPr>
              <a:spcAft>
                <a:spcPts val="600"/>
              </a:spcAft>
              <a:defRPr sz="1400">
                <a:solidFill>
                  <a:srgbClr val="C8CDD7"/>
                </a:solidFill>
                <a:latin typeface="Calibri"/>
              </a:defRPr>
            </a:pPr>
            <a:r>
              <a:t>●  Adzuna Job Market API</a:t>
            </a:r>
          </a:p>
          <a:p>
            <a:pPr>
              <a:spcAft>
                <a:spcPts val="600"/>
              </a:spcAft>
              <a:defRPr sz="1400">
                <a:solidFill>
                  <a:srgbClr val="C8CDD7"/>
                </a:solidFill>
                <a:latin typeface="Calibri"/>
              </a:defRPr>
            </a:pPr>
            <a:r>
              <a:t>●  PDF.js CDN Worker</a:t>
            </a:r>
          </a:p>
          <a:p>
            <a:pPr>
              <a:spcAft>
                <a:spcPts val="600"/>
              </a:spcAft>
              <a:defRPr sz="1400">
                <a:solidFill>
                  <a:srgbClr val="C8CDD7"/>
                </a:solidFill>
                <a:latin typeface="Calibri"/>
              </a:defRPr>
            </a:pPr>
            <a:r>
              <a:t>●  alfa-leetcode-api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4F46E5"/>
                </a:solidFill>
                <a:latin typeface="Calibri"/>
              </a:defRPr>
            </a:pPr>
            <a:r>
              <a:t>MODULE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Resume Analyzer &amp; Skill 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C8CDD7"/>
                </a:solidFill>
                <a:latin typeface="Calibri"/>
              </a:defRPr>
            </a:pPr>
            <a:r>
              <a:t>Students upload their resume (PDF, DOCX, TXT, HTML) → System extracts skills → Verification via quizzes.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017520"/>
            <a:ext cx="2560320" cy="2926080"/>
          </a:xfrm>
          <a:prstGeom prst="roundRect">
            <a:avLst/>
          </a:prstGeom>
          <a:solidFill>
            <a:srgbClr val="1E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2004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4F46E5"/>
                </a:solidFill>
                <a:latin typeface="Calibri"/>
              </a:defRPr>
            </a:pPr>
            <a:r>
              <a:t>1  Upload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703320"/>
            <a:ext cx="21945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C8CDD7"/>
                </a:solidFill>
                <a:latin typeface="Calibri"/>
              </a:defRPr>
            </a:pPr>
            <a:r>
              <a:t>Drag &amp; drop resume or paste text.</a:t>
            </a:r>
            <a:br/>
            <a:r>
              <a:t>Supports PDF extraction via PDF.js</a:t>
            </a:r>
            <a:br/>
            <a:r>
              <a:t>and DOCX via Mammoth.js.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66160" y="3017520"/>
            <a:ext cx="2560320" cy="2926080"/>
          </a:xfrm>
          <a:prstGeom prst="roundRect">
            <a:avLst/>
          </a:prstGeom>
          <a:solidFill>
            <a:srgbClr val="1E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9040" y="32004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4F46E5"/>
                </a:solidFill>
                <a:latin typeface="Calibri"/>
              </a:defRPr>
            </a:pPr>
            <a:r>
              <a:t>2  Extract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40" y="3703320"/>
            <a:ext cx="21945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C8CDD7"/>
                </a:solidFill>
                <a:latin typeface="Calibri"/>
              </a:defRPr>
            </a:pPr>
            <a:r>
              <a:t>Regex matching engine scans 170+</a:t>
            </a:r>
            <a:br/>
            <a:r>
              <a:t>keyword patterns across 15 categories.</a:t>
            </a:r>
            <a:br/>
            <a:r>
              <a:t>Optional Mistral-7B LLM extraction.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3017520"/>
            <a:ext cx="2560320" cy="2926080"/>
          </a:xfrm>
          <a:prstGeom prst="roundRect">
            <a:avLst/>
          </a:prstGeom>
          <a:solidFill>
            <a:srgbClr val="1E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32004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4F46E5"/>
                </a:solidFill>
                <a:latin typeface="Calibri"/>
              </a:defRPr>
            </a:pPr>
            <a:r>
              <a:t>3  Verify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3703320"/>
            <a:ext cx="21945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C8CDD7"/>
                </a:solidFill>
                <a:latin typeface="Calibri"/>
              </a:defRPr>
            </a:pPr>
            <a:r>
              <a:t>3-question quiz per detected skill.</a:t>
            </a:r>
            <a:br/>
            <a:r>
              <a:t>Scores: Expert / Proficient / Beginner.</a:t>
            </a:r>
            <a:br/>
            <a:r>
              <a:t>Prevents false resume claims.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35440" y="3017520"/>
            <a:ext cx="2560320" cy="2926080"/>
          </a:xfrm>
          <a:prstGeom prst="roundRect">
            <a:avLst/>
          </a:prstGeom>
          <a:solidFill>
            <a:srgbClr val="1E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0" y="32004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4F46E5"/>
                </a:solidFill>
                <a:latin typeface="Calibri"/>
              </a:defRPr>
            </a:pPr>
            <a:r>
              <a:t>4  Score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20" y="3703320"/>
            <a:ext cx="21945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C8CDD7"/>
                </a:solidFill>
                <a:latin typeface="Calibri"/>
              </a:defRPr>
            </a:pPr>
            <a:r>
              <a:t>Verified skills feed into the</a:t>
            </a:r>
            <a:br/>
            <a:r>
              <a:t>Jaccard similarity &amp; RandomForest</a:t>
            </a:r>
            <a:br/>
            <a:r>
              <a:t>readiness prediction pipeline.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4F46E5"/>
                </a:solidFill>
                <a:latin typeface="Calibri"/>
              </a:defRPr>
            </a:pPr>
            <a:r>
              <a:t>MODULE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Adaptive Mock Test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600" b="0">
                <a:solidFill>
                  <a:srgbClr val="C8CDD7"/>
                </a:solidFill>
                <a:latin typeface="Calibri"/>
              </a:defRPr>
            </a:pPr>
            <a:r>
              <a:t>Every test is unique — questions are resume-tuned, randomized, and drawn from parameterized template banks.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651760"/>
            <a:ext cx="2103120" cy="3474720"/>
          </a:xfrm>
          <a:prstGeom prst="roundRect">
            <a:avLst/>
          </a:prstGeom>
          <a:solidFill>
            <a:srgbClr val="1E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834640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4F46E5"/>
                </a:solidFill>
                <a:latin typeface="Calibri"/>
              </a:defRPr>
            </a:pPr>
            <a:r>
              <a:t>Quantitative</a:t>
            </a:r>
            <a:br/>
            <a:r>
              <a:t>Aptitude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4747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64748B"/>
                </a:solidFill>
                <a:latin typeface="Calibri"/>
              </a:defRPr>
            </a:pPr>
            <a:r>
              <a:t>25 Qs • 30 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93192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C8CDD7"/>
                </a:solidFill>
                <a:latin typeface="Calibri"/>
              </a:defRPr>
            </a:pPr>
            <a:r>
              <a:t>Number series, averages,</a:t>
            </a:r>
            <a:br/>
            <a:r>
              <a:t>percentages, algebra,</a:t>
            </a:r>
            <a:br/>
            <a:r>
              <a:t>profit &amp; loss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0" y="2651760"/>
            <a:ext cx="2103120" cy="3474720"/>
          </a:xfrm>
          <a:prstGeom prst="roundRect">
            <a:avLst/>
          </a:prstGeom>
          <a:solidFill>
            <a:srgbClr val="1E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80360" y="2834640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0B981"/>
                </a:solidFill>
                <a:latin typeface="Calibri"/>
              </a:defRPr>
            </a:pPr>
            <a:r>
              <a:t>English</a:t>
            </a:r>
            <a:br/>
            <a:r>
              <a:t>Proficiency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360" y="34747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64748B"/>
                </a:solidFill>
                <a:latin typeface="Calibri"/>
              </a:defRPr>
            </a:pPr>
            <a:r>
              <a:t>25 Qs • 25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360" y="393192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C8CDD7"/>
                </a:solidFill>
                <a:latin typeface="Calibri"/>
              </a:defRPr>
            </a:pPr>
            <a:r>
              <a:t>Grammar, vocabulary,</a:t>
            </a:r>
            <a:br/>
            <a:r>
              <a:t>synonyms, antonyms,</a:t>
            </a:r>
            <a:br/>
            <a:r>
              <a:t>sentence correction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0" y="2651760"/>
            <a:ext cx="2103120" cy="3474720"/>
          </a:xfrm>
          <a:prstGeom prst="roundRect">
            <a:avLst/>
          </a:prstGeom>
          <a:solidFill>
            <a:srgbClr val="1E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66360" y="2834640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8B5CF6"/>
                </a:solidFill>
                <a:latin typeface="Calibri"/>
              </a:defRPr>
            </a:pPr>
            <a:r>
              <a:t>Logical</a:t>
            </a:r>
            <a:br/>
            <a:r>
              <a:t>Reasoning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66360" y="34747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64748B"/>
                </a:solidFill>
                <a:latin typeface="Calibri"/>
              </a:defRPr>
            </a:pPr>
            <a:r>
              <a:t>30 Qs • 35 min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66360" y="393192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C8CDD7"/>
                </a:solidFill>
                <a:latin typeface="Calibri"/>
              </a:defRPr>
            </a:pPr>
            <a:r>
              <a:t>Coding-decoding, series,</a:t>
            </a:r>
            <a:br/>
            <a:r>
              <a:t>blood relations, direction,</a:t>
            </a:r>
            <a:br/>
            <a:r>
              <a:t>syllogisms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0" y="2651760"/>
            <a:ext cx="2103120" cy="3474720"/>
          </a:xfrm>
          <a:prstGeom prst="roundRect">
            <a:avLst/>
          </a:prstGeom>
          <a:solidFill>
            <a:srgbClr val="1E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52360" y="2834640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F59E0B"/>
                </a:solidFill>
                <a:latin typeface="Calibri"/>
              </a:defRPr>
            </a:pPr>
            <a:r>
              <a:t>Computer</a:t>
            </a:r>
            <a:br/>
            <a:r>
              <a:t>Science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52360" y="34747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64748B"/>
                </a:solidFill>
                <a:latin typeface="Calibri"/>
              </a:defRPr>
            </a:pPr>
            <a:r>
              <a:t>15 Qs • 20 min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52360" y="393192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C8CDD7"/>
                </a:solidFill>
                <a:latin typeface="Calibri"/>
              </a:defRPr>
            </a:pPr>
            <a:r>
              <a:t>OS, DBMS, networking,</a:t>
            </a:r>
            <a:br/>
            <a:r>
              <a:t>data structures, software</a:t>
            </a:r>
            <a:br/>
            <a:r>
              <a:t>engineering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01200" y="2651760"/>
            <a:ext cx="2103120" cy="3474720"/>
          </a:xfrm>
          <a:prstGeom prst="roundRect">
            <a:avLst/>
          </a:prstGeom>
          <a:solidFill>
            <a:srgbClr val="1E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38360" y="2834640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F43F5E"/>
                </a:solidFill>
                <a:latin typeface="Calibri"/>
              </a:defRPr>
            </a:pPr>
            <a:r>
              <a:t>DSA Challenge</a:t>
            </a:r>
            <a:br/>
            <a:r>
              <a:t>Pool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38360" y="34747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64748B"/>
                </a:solidFill>
                <a:latin typeface="Calibri"/>
              </a:defRPr>
            </a:pPr>
            <a:r>
              <a:t>6 Qs • 30 min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38360" y="393192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C8CDD7"/>
                </a:solidFill>
                <a:latin typeface="Calibri"/>
              </a:defRPr>
            </a:pPr>
            <a:r>
              <a:t>Resume-matched DSA</a:t>
            </a:r>
            <a:br/>
            <a:r>
              <a:t>problems via LeetCode</a:t>
            </a:r>
            <a:br/>
            <a:r>
              <a:t>API integration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6400800"/>
            <a:ext cx="10515600" cy="320040"/>
          </a:xfrm>
          <a:prstGeom prst="roundRect">
            <a:avLst/>
          </a:prstGeom>
          <a:solidFill>
            <a:srgbClr val="1E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64008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200" b="1">
                <a:solidFill>
                  <a:srgbClr val="64748B"/>
                </a:solidFill>
                <a:latin typeface="Calibri"/>
              </a:defRPr>
            </a:pPr>
            <a:r>
              <a:t>Total: 101 Questions  •  Difficulty: 30% Easy, 50% Medium, 20% Hard  •  History tracking prevents repeats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4F46E5"/>
                </a:solidFill>
                <a:latin typeface="Calibri"/>
              </a:defRPr>
            </a:pPr>
            <a:r>
              <a:t>MODULE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Gap Analysis &amp; Readiness Prediction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5029200" cy="4114800"/>
          </a:xfrm>
          <a:prstGeom prst="roundRect">
            <a:avLst/>
          </a:prstGeom>
          <a:solidFill>
            <a:srgbClr val="1E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1945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10B981"/>
                </a:solidFill>
                <a:latin typeface="Calibri"/>
              </a:defRPr>
            </a:pPr>
            <a:r>
              <a:t>Skill Gap Analysis (Jaccard Similarity)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74320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C8CDD7"/>
                </a:solidFill>
                <a:latin typeface="Calibri"/>
              </a:defRPr>
            </a:pPr>
            <a:r>
              <a:t>▸  Compares student's verified skill-set against market-required skills for target role.</a:t>
            </a:r>
          </a:p>
          <a:p>
            <a:pPr>
              <a:spcAft>
                <a:spcPts val="600"/>
              </a:spcAft>
              <a:defRPr sz="1400">
                <a:solidFill>
                  <a:srgbClr val="C8CDD7"/>
                </a:solidFill>
                <a:latin typeface="Calibri"/>
              </a:defRPr>
            </a:pPr>
            <a:r>
              <a:t>▸  Missing skills are identified and ranked by industry demand frequency.</a:t>
            </a:r>
          </a:p>
          <a:p>
            <a:pPr>
              <a:spcAft>
                <a:spcPts val="600"/>
              </a:spcAft>
              <a:defRPr sz="1400">
                <a:solidFill>
                  <a:srgbClr val="C8CDD7"/>
                </a:solidFill>
                <a:latin typeface="Calibri"/>
              </a:defRPr>
            </a:pPr>
            <a:r>
              <a:t>▸  Recommended certifications and learning resources for each gap.</a:t>
            </a:r>
          </a:p>
          <a:p>
            <a:pPr>
              <a:spcAft>
                <a:spcPts val="600"/>
              </a:spcAft>
              <a:defRPr sz="1400">
                <a:solidFill>
                  <a:srgbClr val="C8CDD7"/>
                </a:solidFill>
                <a:latin typeface="Calibri"/>
              </a:defRPr>
            </a:pPr>
            <a:r>
              <a:t>▸  Admin aggregation: institution-wide skill gap heatmap across all students.</a:t>
            </a:r>
          </a:p>
          <a:p>
            <a:pPr>
              <a:spcAft>
                <a:spcPts val="600"/>
              </a:spcAft>
              <a:defRPr sz="1400">
                <a:solidFill>
                  <a:srgbClr val="C8CDD7"/>
                </a:solidFill>
                <a:latin typeface="Calibri"/>
              </a:defRPr>
            </a:pPr>
            <a:r>
              <a:t>▸  Uses real market_data.json with 15+ role templates (SDE, Data Scientist, DevOps, etc.).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011680"/>
            <a:ext cx="5212080" cy="4114800"/>
          </a:xfrm>
          <a:prstGeom prst="roundRect">
            <a:avLst/>
          </a:prstGeom>
          <a:solidFill>
            <a:srgbClr val="1E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21945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8B5CF6"/>
                </a:solidFill>
                <a:latin typeface="Calibri"/>
              </a:defRPr>
            </a:pPr>
            <a:r>
              <a:t>Readiness Prediction (RandomForest)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743200"/>
            <a:ext cx="4754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C8CDD7"/>
                </a:solidFill>
                <a:latin typeface="Calibri"/>
              </a:defRPr>
            </a:pPr>
            <a:r>
              <a:t>▸  Features: CGPA, project count, skill-match %, certifications count.</a:t>
            </a:r>
          </a:p>
          <a:p>
            <a:pPr>
              <a:spcAft>
                <a:spcPts val="600"/>
              </a:spcAft>
              <a:defRPr sz="1400">
                <a:solidFill>
                  <a:srgbClr val="C8CDD7"/>
                </a:solidFill>
                <a:latin typeface="Calibri"/>
              </a:defRPr>
            </a:pPr>
            <a:r>
              <a:t>▸  Trained on historical_placement.csv (500+ student records).</a:t>
            </a:r>
          </a:p>
          <a:p>
            <a:pPr>
              <a:spcAft>
                <a:spcPts val="600"/>
              </a:spcAft>
              <a:defRPr sz="1400">
                <a:solidFill>
                  <a:srgbClr val="C8CDD7"/>
                </a:solidFill>
                <a:latin typeface="Calibri"/>
              </a:defRPr>
            </a:pPr>
            <a:r>
              <a:t>▸  Outputs a placement readiness percentage (0–100%).</a:t>
            </a:r>
          </a:p>
          <a:p>
            <a:pPr>
              <a:spcAft>
                <a:spcPts val="600"/>
              </a:spcAft>
              <a:defRPr sz="1400">
                <a:solidFill>
                  <a:srgbClr val="C8CDD7"/>
                </a:solidFill>
                <a:latin typeface="Calibri"/>
              </a:defRPr>
            </a:pPr>
            <a:r>
              <a:t>▸  Dashboard visualizes readiness over time with trend lines.</a:t>
            </a:r>
          </a:p>
          <a:p>
            <a:pPr>
              <a:spcAft>
                <a:spcPts val="600"/>
              </a:spcAft>
              <a:defRPr sz="1400">
                <a:solidFill>
                  <a:srgbClr val="C8CDD7"/>
                </a:solidFill>
                <a:latin typeface="Calibri"/>
              </a:defRPr>
            </a:pPr>
            <a:r>
              <a:t>▸  At-risk detection: flags students with &lt; 5% improvement over 30 days.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4F46E5"/>
                </a:solidFill>
                <a:latin typeface="Calibri"/>
              </a:defRPr>
            </a:pPr>
            <a:r>
              <a:t>MODULE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DSA Coding Lab — In-Browser IDE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474720" cy="1920240"/>
          </a:xfrm>
          <a:prstGeom prst="roundRect">
            <a:avLst/>
          </a:prstGeom>
          <a:solidFill>
            <a:srgbClr val="1E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0116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600" b="1">
                <a:solidFill>
                  <a:srgbClr val="F43F5E"/>
                </a:solidFill>
                <a:latin typeface="Calibri"/>
              </a:defRPr>
            </a:pPr>
            <a:r>
              <a:t>Multi-Language Support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46888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C8CDD7"/>
                </a:solidFill>
                <a:latin typeface="Calibri"/>
              </a:defRPr>
            </a:pPr>
            <a:r>
              <a:t>Python, Java, C++, and C — each with</a:t>
            </a:r>
            <a:br/>
            <a:r>
              <a:t>syntax highlighting and boilerplate templates.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59" y="1828800"/>
            <a:ext cx="3474720" cy="1920240"/>
          </a:xfrm>
          <a:prstGeom prst="roundRect">
            <a:avLst/>
          </a:prstGeom>
          <a:solidFill>
            <a:srgbClr val="1E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09159" y="20116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600" b="1">
                <a:solidFill>
                  <a:srgbClr val="F43F5E"/>
                </a:solidFill>
                <a:latin typeface="Calibri"/>
              </a:defRPr>
            </a:pPr>
            <a:r>
              <a:t>Piston API Integration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59" y="246888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C8CDD7"/>
                </a:solidFill>
                <a:latin typeface="Calibri"/>
              </a:defRPr>
            </a:pPr>
            <a:r>
              <a:t>Remote code execution via emkc.org Piston</a:t>
            </a:r>
            <a:br/>
            <a:r>
              <a:t>API — no local compiler setup required.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1828800"/>
            <a:ext cx="3474720" cy="1920240"/>
          </a:xfrm>
          <a:prstGeom prst="roundRect">
            <a:avLst/>
          </a:prstGeom>
          <a:solidFill>
            <a:srgbClr val="1E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58200" y="20116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600" b="1">
                <a:solidFill>
                  <a:srgbClr val="F43F5E"/>
                </a:solidFill>
                <a:latin typeface="Calibri"/>
              </a:defRPr>
            </a:pPr>
            <a:r>
              <a:t>LeetCode GraphQL API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58200" y="246888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C8CDD7"/>
                </a:solidFill>
                <a:latin typeface="Calibri"/>
              </a:defRPr>
            </a:pPr>
            <a:r>
              <a:t>Dynamically fetch real LeetCode problems</a:t>
            </a:r>
            <a:br/>
            <a:r>
              <a:t>by skill tag (Arrays, Trees, Linked Lists, etc.).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114800"/>
            <a:ext cx="3474720" cy="1920240"/>
          </a:xfrm>
          <a:prstGeom prst="roundRect">
            <a:avLst/>
          </a:prstGeom>
          <a:solidFill>
            <a:srgbClr val="1E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2976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600" b="1">
                <a:solidFill>
                  <a:srgbClr val="F43F5E"/>
                </a:solidFill>
                <a:latin typeface="Calibri"/>
              </a:defRPr>
            </a:pPr>
            <a:r>
              <a:t>Test Case Validation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475488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C8CDD7"/>
                </a:solidFill>
                <a:latin typeface="Calibri"/>
              </a:defRPr>
            </a:pPr>
            <a:r>
              <a:t>Automated test harness compares output</a:t>
            </a:r>
            <a:br/>
            <a:r>
              <a:t>against expected results for each problem.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80559" y="4114800"/>
            <a:ext cx="3474720" cy="1920240"/>
          </a:xfrm>
          <a:prstGeom prst="roundRect">
            <a:avLst/>
          </a:prstGeom>
          <a:solidFill>
            <a:srgbClr val="1E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09159" y="42976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600" b="1">
                <a:solidFill>
                  <a:srgbClr val="F43F5E"/>
                </a:solidFill>
                <a:latin typeface="Calibri"/>
              </a:defRPr>
            </a:pPr>
            <a:r>
              <a:t>Continuous Learning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9159" y="475488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C8CDD7"/>
                </a:solidFill>
                <a:latin typeface="Calibri"/>
              </a:defRPr>
            </a:pPr>
            <a:r>
              <a:t>"Next Challenge" button fetches new</a:t>
            </a:r>
            <a:br/>
            <a:r>
              <a:t>problems — infinite practice loop.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0" y="4114800"/>
            <a:ext cx="3474720" cy="1920240"/>
          </a:xfrm>
          <a:prstGeom prst="roundRect">
            <a:avLst/>
          </a:prstGeom>
          <a:solidFill>
            <a:srgbClr val="1E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58200" y="42976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600" b="1">
                <a:solidFill>
                  <a:srgbClr val="F43F5E"/>
                </a:solidFill>
                <a:latin typeface="Calibri"/>
              </a:defRPr>
            </a:pPr>
            <a:r>
              <a:t>Syntax Check Fallback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475488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C8CDD7"/>
                </a:solidFill>
                <a:latin typeface="Calibri"/>
              </a:defRPr>
            </a:pPr>
            <a:r>
              <a:t>AST-based Python syntax validation for</a:t>
            </a:r>
            <a:br/>
            <a:r>
              <a:t>dynamic problems when API is unavailable.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4F46E5"/>
                </a:solidFill>
                <a:latin typeface="Calibri"/>
              </a:defRPr>
            </a:pPr>
            <a:r>
              <a:t>MODULE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Admin Panel &amp; Student Management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5029200" cy="4114800"/>
          </a:xfrm>
          <a:prstGeom prst="roundRect">
            <a:avLst/>
          </a:prstGeom>
          <a:solidFill>
            <a:srgbClr val="1E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1945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F59E0B"/>
                </a:solidFill>
                <a:latin typeface="Calibri"/>
              </a:defRPr>
            </a:pPr>
            <a:r>
              <a:t>Admin 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74320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C8CDD7"/>
                </a:solidFill>
                <a:latin typeface="Calibri"/>
              </a:defRPr>
            </a:pPr>
            <a:r>
              <a:t>▸  Institution-wide skill gap frequency analysis.</a:t>
            </a:r>
          </a:p>
          <a:p>
            <a:pPr>
              <a:spcAft>
                <a:spcPts val="600"/>
              </a:spcAft>
              <a:defRPr sz="1400">
                <a:solidFill>
                  <a:srgbClr val="C8CDD7"/>
                </a:solidFill>
                <a:latin typeface="Calibri"/>
              </a:defRPr>
            </a:pPr>
            <a:r>
              <a:t>▸  At-risk student detection (stagnant or declining scores).</a:t>
            </a:r>
          </a:p>
          <a:p>
            <a:pPr>
              <a:spcAft>
                <a:spcPts val="600"/>
              </a:spcAft>
              <a:defRPr sz="1400">
                <a:solidFill>
                  <a:srgbClr val="C8CDD7"/>
                </a:solidFill>
                <a:latin typeface="Calibri"/>
              </a:defRPr>
            </a:pPr>
            <a:r>
              <a:t>▸  Aggregate readiness metrics across all enrolled students.</a:t>
            </a:r>
          </a:p>
          <a:p>
            <a:pPr>
              <a:spcAft>
                <a:spcPts val="600"/>
              </a:spcAft>
              <a:defRPr sz="1400">
                <a:solidFill>
                  <a:srgbClr val="C8CDD7"/>
                </a:solidFill>
                <a:latin typeface="Calibri"/>
              </a:defRPr>
            </a:pPr>
            <a:r>
              <a:t>▸  Export and review student performance reports.</a:t>
            </a:r>
          </a:p>
          <a:p>
            <a:pPr>
              <a:spcAft>
                <a:spcPts val="600"/>
              </a:spcAft>
              <a:defRPr sz="1400">
                <a:solidFill>
                  <a:srgbClr val="C8CDD7"/>
                </a:solidFill>
                <a:latin typeface="Calibri"/>
              </a:defRPr>
            </a:pPr>
            <a:r>
              <a:t>▸  Role-based access: Admin vs. Student views.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011680"/>
            <a:ext cx="5212080" cy="4114800"/>
          </a:xfrm>
          <a:prstGeom prst="roundRect">
            <a:avLst/>
          </a:prstGeom>
          <a:solidFill>
            <a:srgbClr val="1E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21945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10B981"/>
                </a:solidFill>
                <a:latin typeface="Calibri"/>
              </a:defRPr>
            </a:pPr>
            <a:r>
              <a:t>Student Management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743200"/>
            <a:ext cx="4754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C8CDD7"/>
                </a:solidFill>
                <a:latin typeface="Calibri"/>
              </a:defRPr>
            </a:pPr>
            <a:r>
              <a:t>▸  Self-service onboarding: students enter name, roll no, email, mobile.</a:t>
            </a:r>
          </a:p>
          <a:p>
            <a:pPr>
              <a:spcAft>
                <a:spcPts val="600"/>
              </a:spcAft>
              <a:defRPr sz="1400">
                <a:solidFill>
                  <a:srgbClr val="C8CDD7"/>
                </a:solidFill>
                <a:latin typeface="Calibri"/>
              </a:defRPr>
            </a:pPr>
            <a:r>
              <a:t>▸  Auto-creates student records in the JSON database on first login.</a:t>
            </a:r>
          </a:p>
          <a:p>
            <a:pPr>
              <a:spcAft>
                <a:spcPts val="600"/>
              </a:spcAft>
              <a:defRPr sz="1400">
                <a:solidFill>
                  <a:srgbClr val="C8CDD7"/>
                </a:solidFill>
                <a:latin typeface="Calibri"/>
              </a:defRPr>
            </a:pPr>
            <a:r>
              <a:t>▸  Full CRUD: admins can view, edit, and manage student profiles.</a:t>
            </a:r>
          </a:p>
          <a:p>
            <a:pPr>
              <a:spcAft>
                <a:spcPts val="600"/>
              </a:spcAft>
              <a:defRPr sz="1400">
                <a:solidFill>
                  <a:srgbClr val="C8CDD7"/>
                </a:solidFill>
                <a:latin typeface="Calibri"/>
              </a:defRPr>
            </a:pPr>
            <a:r>
              <a:t>▸  Test history tracking per student with date, score, and readiness.</a:t>
            </a:r>
          </a:p>
          <a:p>
            <a:pPr>
              <a:spcAft>
                <a:spcPts val="600"/>
              </a:spcAft>
              <a:defRPr sz="1400">
                <a:solidFill>
                  <a:srgbClr val="C8CDD7"/>
                </a:solidFill>
                <a:latin typeface="Calibri"/>
              </a:defRPr>
            </a:pPr>
            <a:r>
              <a:t>▸  Dashboard shows personal readiness gauge, radar chart, and benchmarks.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4F46E5"/>
                </a:solidFill>
                <a:latin typeface="Calibri"/>
              </a:defRPr>
            </a:pPr>
            <a:r>
              <a:t>AI &amp; APIs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LLM &amp; External API Integrations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303520" cy="2011680"/>
          </a:xfrm>
          <a:prstGeom prst="roundRect">
            <a:avLst/>
          </a:prstGeom>
          <a:solidFill>
            <a:srgbClr val="1E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659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8B5CF6"/>
                </a:solidFill>
                <a:latin typeface="Calibri"/>
              </a:defRPr>
            </a:pPr>
            <a:r>
              <a:t>Mistral 7B (HuggingFace)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423160"/>
            <a:ext cx="4846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C8CDD7"/>
                </a:solidFill>
                <a:latin typeface="Calibri"/>
              </a:defRPr>
            </a:pPr>
            <a:r>
              <a:t>Free LLM for intelligent resume parsing.</a:t>
            </a:r>
            <a:br/>
            <a:r>
              <a:t>Extracts skills, experience level, suggested roles.</a:t>
            </a:r>
            <a:br/>
            <a:r>
              <a:t>Also generates unique MCQ questions on demand.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828800"/>
            <a:ext cx="5303520" cy="2011680"/>
          </a:xfrm>
          <a:prstGeom prst="roundRect">
            <a:avLst/>
          </a:prstGeom>
          <a:solidFill>
            <a:srgbClr val="1E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29400" y="19659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10B981"/>
                </a:solidFill>
                <a:latin typeface="Calibri"/>
              </a:defRPr>
            </a:pPr>
            <a:r>
              <a:t>Adzuna Job Market API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2423160"/>
            <a:ext cx="4846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C8CDD7"/>
                </a:solidFill>
                <a:latin typeface="Calibri"/>
              </a:defRPr>
            </a:pPr>
            <a:r>
              <a:t>Fetches live job postings for target roles.</a:t>
            </a:r>
            <a:br/>
            <a:r>
              <a:t>Provides real-world salary data and demand trends.</a:t>
            </a:r>
            <a:br/>
            <a:r>
              <a:t>Bridges the gap between training and industry.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206240"/>
            <a:ext cx="5303520" cy="2011680"/>
          </a:xfrm>
          <a:prstGeom prst="roundRect">
            <a:avLst/>
          </a:prstGeom>
          <a:solidFill>
            <a:srgbClr val="1E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3434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F59E0B"/>
                </a:solidFill>
                <a:latin typeface="Calibri"/>
              </a:defRPr>
            </a:pPr>
            <a:r>
              <a:t>LeetCode GraphQL API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800600"/>
            <a:ext cx="4846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C8CDD7"/>
                </a:solidFill>
                <a:latin typeface="Calibri"/>
              </a:defRPr>
            </a:pPr>
            <a:r>
              <a:t>Queries problem metadata, descriptions,</a:t>
            </a:r>
            <a:br/>
            <a:r>
              <a:t>code snippets, test cases, and difficulty.</a:t>
            </a:r>
            <a:br/>
            <a:r>
              <a:t>Maps resume skills to relevant DSA challenges.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4206240"/>
            <a:ext cx="5303520" cy="2011680"/>
          </a:xfrm>
          <a:prstGeom prst="roundRect">
            <a:avLst/>
          </a:prstGeom>
          <a:solidFill>
            <a:srgbClr val="1E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29400" y="43434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F43F5E"/>
                </a:solidFill>
                <a:latin typeface="Calibri"/>
              </a:defRPr>
            </a:pPr>
            <a:r>
              <a:t>Piston Code Execution API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4800600"/>
            <a:ext cx="4846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C8CDD7"/>
                </a:solidFill>
                <a:latin typeface="Calibri"/>
              </a:defRPr>
            </a:pPr>
            <a:r>
              <a:t>Stateless remote compilation via emkc.org.</a:t>
            </a:r>
            <a:br/>
            <a:r>
              <a:t>Supports Python, Java, C++, C execution.</a:t>
            </a:r>
            <a:br/>
            <a:r>
              <a:t>No local compiler installation needed.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4F46E5"/>
                </a:solidFill>
                <a:latin typeface="Calibri"/>
              </a:defRPr>
            </a:pPr>
            <a: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Key Features &amp; Outcomes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011680"/>
            <a:ext cx="2103120" cy="2011680"/>
          </a:xfrm>
          <a:prstGeom prst="roundRect">
            <a:avLst/>
          </a:prstGeom>
          <a:solidFill>
            <a:srgbClr val="1E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219456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4F46E5"/>
                </a:solidFill>
                <a:latin typeface="Calibri"/>
              </a:defRPr>
            </a:pPr>
            <a:r>
              <a:t>170+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6974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Regex Patterns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01752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t>For skill extraction across</a:t>
            </a:r>
            <a:br/>
            <a:r>
              <a:t>15 categories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0" y="2011680"/>
            <a:ext cx="2103120" cy="2011680"/>
          </a:xfrm>
          <a:prstGeom prst="roundRect">
            <a:avLst/>
          </a:prstGeom>
          <a:solidFill>
            <a:srgbClr val="1E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80360" y="219456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4F46E5"/>
                </a:solidFill>
                <a:latin typeface="Calibri"/>
              </a:defRPr>
            </a:pPr>
            <a:r>
              <a:t>101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0360" y="26974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Test Questions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360" y="301752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t>Per placement mock test</a:t>
            </a:r>
            <a:br/>
            <a:r>
              <a:t>5 sections, always unique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0" y="2011680"/>
            <a:ext cx="2103120" cy="2011680"/>
          </a:xfrm>
          <a:prstGeom prst="roundRect">
            <a:avLst/>
          </a:prstGeom>
          <a:solidFill>
            <a:srgbClr val="1E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66360" y="219456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4F46E5"/>
                </a:solidFill>
                <a:latin typeface="Calibri"/>
              </a:defRPr>
            </a:pPr>
            <a:r>
              <a:t>500+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66360" y="26974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CSV Records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66360" y="301752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t>Historical placement data</a:t>
            </a:r>
            <a:br/>
            <a:r>
              <a:t>for ML training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0" y="2011680"/>
            <a:ext cx="2103120" cy="2011680"/>
          </a:xfrm>
          <a:prstGeom prst="roundRect">
            <a:avLst/>
          </a:prstGeom>
          <a:solidFill>
            <a:srgbClr val="1E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52360" y="219456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4F46E5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52360" y="26974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Languages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52360" y="301752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t>Python, Java, C++, C</a:t>
            </a:r>
            <a:br/>
            <a:r>
              <a:t>real code execution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01200" y="2011680"/>
            <a:ext cx="2103120" cy="2011680"/>
          </a:xfrm>
          <a:prstGeom prst="roundRect">
            <a:avLst/>
          </a:prstGeom>
          <a:solidFill>
            <a:srgbClr val="1E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38360" y="219456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4F46E5"/>
                </a:solidFill>
                <a:latin typeface="Calibri"/>
              </a:defRPr>
            </a:pPr>
            <a:r>
              <a:t>6+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38360" y="26974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API Integrations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38360" y="301752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t>LLM, Piston, LeetCode,</a:t>
            </a:r>
            <a:br/>
            <a:r>
              <a:t>Adzuna, PDF.js, etc.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4389120"/>
            <a:ext cx="10515600" cy="2103120"/>
          </a:xfrm>
          <a:prstGeom prst="roundRect">
            <a:avLst/>
          </a:prstGeom>
          <a:solidFill>
            <a:srgbClr val="1E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97280" y="44805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10B981"/>
                </a:solidFill>
                <a:latin typeface="Calibri"/>
              </a:defRPr>
            </a:pPr>
            <a:r>
              <a:t>Key Outcomes &amp; Differentiators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4937760"/>
            <a:ext cx="9601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C8CDD7"/>
                </a:solidFill>
                <a:latin typeface="Calibri"/>
              </a:defRPr>
            </a:pPr>
            <a:r>
              <a:t>▸  Verified skill profiles eliminate resume inflation — quiz-based validation for every claimed skill.</a:t>
            </a:r>
          </a:p>
          <a:p>
            <a:pPr>
              <a:spcAft>
                <a:spcPts val="600"/>
              </a:spcAft>
              <a:defRPr sz="1400">
                <a:solidFill>
                  <a:srgbClr val="C8CDD7"/>
                </a:solidFill>
                <a:latin typeface="Calibri"/>
              </a:defRPr>
            </a:pPr>
            <a:r>
              <a:t>▸  Resume-tuned tests ensure every mock assessment is relevant to the student's career trajectory.</a:t>
            </a:r>
          </a:p>
          <a:p>
            <a:pPr>
              <a:spcAft>
                <a:spcPts val="600"/>
              </a:spcAft>
              <a:defRPr sz="1400">
                <a:solidFill>
                  <a:srgbClr val="C8CDD7"/>
                </a:solidFill>
                <a:latin typeface="Calibri"/>
              </a:defRPr>
            </a:pPr>
            <a:r>
              <a:t>▸  Continuous DSA practice with infinite LeetCode problem fetching keeps students engaged.</a:t>
            </a:r>
          </a:p>
          <a:p>
            <a:pPr>
              <a:spcAft>
                <a:spcPts val="600"/>
              </a:spcAft>
              <a:defRPr sz="1400">
                <a:solidFill>
                  <a:srgbClr val="C8CDD7"/>
                </a:solidFill>
                <a:latin typeface="Calibri"/>
              </a:defRPr>
            </a:pPr>
            <a:r>
              <a:t>▸  Real-time readiness tracking enables both students and administrators to monitor progress.</a:t>
            </a:r>
          </a:p>
          <a:p>
            <a:pPr>
              <a:spcAft>
                <a:spcPts val="600"/>
              </a:spcAft>
              <a:defRPr sz="1400">
                <a:solidFill>
                  <a:srgbClr val="C8CDD7"/>
                </a:solidFill>
                <a:latin typeface="Calibri"/>
              </a:defRPr>
            </a:pPr>
            <a:r>
              <a:t>▸  Live job market integration through Adzuna ensures alignment with current industry demands.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3657600"/>
            <a:ext cx="4572000" cy="4572000"/>
          </a:xfrm>
          <a:prstGeom prst="ellipse">
            <a:avLst/>
          </a:prstGeom>
          <a:solidFill>
            <a:srgbClr val="3730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4F46E5"/>
                </a:solidFill>
                <a:latin typeface="Calibri"/>
              </a:defRPr>
            </a:pPr>
            <a:r>
              <a:t>FUTURE &amp; CLOSING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Future Scope &amp; Conclusion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486400" cy="3200400"/>
          </a:xfrm>
          <a:prstGeom prst="roundRect">
            <a:avLst/>
          </a:prstGeom>
          <a:solidFill>
            <a:srgbClr val="1E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F59E0B"/>
                </a:solidFill>
                <a:latin typeface="Calibri"/>
              </a:defRPr>
            </a:pPr>
            <a:r>
              <a:t>Future Enhancements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46888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C8CDD7"/>
                </a:solidFill>
                <a:latin typeface="Calibri"/>
              </a:defRPr>
            </a:pPr>
            <a:r>
              <a:t>▸  OAuth/SSO authentication for institutional deployment.</a:t>
            </a:r>
          </a:p>
          <a:p>
            <a:pPr>
              <a:spcAft>
                <a:spcPts val="600"/>
              </a:spcAft>
              <a:defRPr sz="1400">
                <a:solidFill>
                  <a:srgbClr val="C8CDD7"/>
                </a:solidFill>
                <a:latin typeface="Calibri"/>
              </a:defRPr>
            </a:pPr>
            <a:r>
              <a:t>▸  PostgreSQL/MongoDB migration for production-scale data.</a:t>
            </a:r>
          </a:p>
          <a:p>
            <a:pPr>
              <a:spcAft>
                <a:spcPts val="600"/>
              </a:spcAft>
              <a:defRPr sz="1400">
                <a:solidFill>
                  <a:srgbClr val="C8CDD7"/>
                </a:solidFill>
                <a:latin typeface="Calibri"/>
              </a:defRPr>
            </a:pPr>
            <a:r>
              <a:t>▸  AI-powered interview preparation with mock video analysis.</a:t>
            </a:r>
          </a:p>
          <a:p>
            <a:pPr>
              <a:spcAft>
                <a:spcPts val="600"/>
              </a:spcAft>
              <a:defRPr sz="1400">
                <a:solidFill>
                  <a:srgbClr val="C8CDD7"/>
                </a:solidFill>
                <a:latin typeface="Calibri"/>
              </a:defRPr>
            </a:pPr>
            <a:r>
              <a:t>▸  Company-specific skill maps (TCS, Infosys, Google, etc.).</a:t>
            </a:r>
          </a:p>
          <a:p>
            <a:pPr>
              <a:spcAft>
                <a:spcPts val="600"/>
              </a:spcAft>
              <a:defRPr sz="1400">
                <a:solidFill>
                  <a:srgbClr val="C8CDD7"/>
                </a:solidFill>
                <a:latin typeface="Calibri"/>
              </a:defRPr>
            </a:pPr>
            <a:r>
              <a:t>▸  Mobile-responsive PWA version for on-the-go practice.</a:t>
            </a:r>
          </a:p>
          <a:p>
            <a:pPr>
              <a:spcAft>
                <a:spcPts val="600"/>
              </a:spcAft>
              <a:defRPr sz="1400">
                <a:solidFill>
                  <a:srgbClr val="C8CDD7"/>
                </a:solidFill>
                <a:latin typeface="Calibri"/>
              </a:defRPr>
            </a:pPr>
            <a:r>
              <a:t>▸  Peer benchmarking and leaderboard gamification.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3035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4200" b="1">
                <a:solidFill>
                  <a:srgbClr val="FFFFFF"/>
                </a:solidFill>
                <a:latin typeface="Calibri"/>
              </a:defRPr>
            </a:pPr>
            <a:r>
              <a:t>Thank You!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943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800" b="0">
                <a:solidFill>
                  <a:srgbClr val="64748B"/>
                </a:solidFill>
                <a:latin typeface="Calibri"/>
              </a:defRPr>
            </a:pPr>
            <a:r>
              <a:t>Questions &amp; Feedback Welcome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